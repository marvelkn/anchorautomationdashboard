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0"/>
            <a:ext cx="8823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Machine Learning Pipeline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BTN Anchor Automation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Deteksi Dini Risiko Churn &amp; Segmentasi Performa Merchant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Bank BTN  ·  Data &amp; Analytics Team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Gambaran Besar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Enam tahap dari data mentah ke keputusan risiko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261872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Merge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 tabel ETL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digabung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99616" y="2011680"/>
            <a:ext cx="128016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3624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63624" y="1371600"/>
            <a:ext cx="1261872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9344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9344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Normalise, clip,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log, scale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4640" y="2011680"/>
            <a:ext cx="128016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98648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98648" y="1371600"/>
            <a:ext cx="1261872" cy="2560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8648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44368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K-Means++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Clustering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44368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Segmentasi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performa tier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69664" y="2011680"/>
            <a:ext cx="128016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33672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33672" y="1371600"/>
            <a:ext cx="1261872" cy="2560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9392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Isolation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Forest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79392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Deteksi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anomali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04688" y="2011680"/>
            <a:ext cx="128016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68696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68696" y="1371600"/>
            <a:ext cx="12618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14416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MAD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Z-Score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4416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Ukur jarak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dari median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39712" y="2011680"/>
            <a:ext cx="128016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1371600"/>
            <a:ext cx="1261872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03720" y="1371600"/>
            <a:ext cx="12618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371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166420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Risk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&amp; Klasifikasi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21945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0–100 → HIGH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MEDIUM / STABLE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2880360"/>
            <a:ext cx="86868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880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Pipeline berjalan setiap kali halaman Dashboard dibuka — model dilatih ulang dari data terbaru, tanpa file model tersimpan.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" y="3520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Tahap 3a (K-Means) dan 3b (Isolation Forest) berjalan PARALEL — dua perspektif berbeda pada data yang sama.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Tantangan: Data Mentah Tidak Bisa Langsung Dipakai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Tiga masalah utama yang harus diselesaikan sebelum ML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11680" cy="621792"/>
          </a:xfrm>
          <a:prstGeom prst="rect">
            <a:avLst/>
          </a:prstGeom>
          <a:solidFill>
            <a:srgbClr val="1A3A6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Mentah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749808"/>
            <a:ext cx="3474720" cy="621792"/>
          </a:xfrm>
          <a:prstGeom prst="rect">
            <a:avLst/>
          </a:prstGeom>
          <a:solidFill>
            <a:srgbClr val="1A3A6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7498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Masalah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749808"/>
            <a:ext cx="3108960" cy="621792"/>
          </a:xfrm>
          <a:prstGeom prst="rect">
            <a:avLst/>
          </a:prstGeom>
          <a:solidFill>
            <a:srgbClr val="1A3A6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749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71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TOTAL_SV (akumulasi YTD)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40280" y="1371600"/>
            <a:ext cx="3474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371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Merchant aktif 3 bulan vs 12 bulan tidak bisa dibandingkan langsung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5000" y="1371600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3716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</a:rPr>
              <a:t>÷ months_active → AVG_SV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993392"/>
            <a:ext cx="201168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933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SV_GROWTH_RATE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0" y="1993392"/>
            <a:ext cx="34747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99339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Satu outlier ekstrem (mis. +1000%) bisa mendistorsi seluruh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15000" y="1993392"/>
            <a:ext cx="31089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9933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</a:rPr>
              <a:t>Clip di P5–P95 → SV_GROWTH_CLIPPED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615184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1518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TOTAL_SV: Rp 100M vs Rp 10T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40280" y="2615184"/>
            <a:ext cx="3474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261518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Skala terlalu jauh — model akan terlalu fokus pada merchant besar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15000" y="2615184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6151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</a:rPr>
              <a:t>Log transform (log1p) → skala dikompresi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236976"/>
            <a:ext cx="201168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23697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Tidak ada kolom achievement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40280" y="3236976"/>
            <a:ext cx="34747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2369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Tidak ada cara mengukur seberapa jauh merchant dari target 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3236976"/>
            <a:ext cx="31089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23697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6DB"/>
                </a:solidFill>
              </a:rPr>
              <a:t>Dibuat baru: ACHIEVEMENT_PCT = TOTAL_SV / TARGET × 100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Tanpa feature engineering ini, model ML akan menghasilkan segmentasi yang bias dan tidak bisa ditindaklanjuti.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Engineering: Membuat Data Bisa Dibandingkan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Tiga langkah transformasi → 6 fitur final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2697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Normalisasi per Bulan Aktif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AVG_SV  =  TOTAL_SV ÷ months_active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AVG_FBI  =  TOTAL_FBI ÷ months_active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months_active = WEEKS_ACTIVE ÷ 4.33 (clip 1–12)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Semua total dibagi durasi aktif sebenarnya — bukan selalu ÷ 12.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07792" y="2125980"/>
            <a:ext cx="150876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86100" y="822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6100" y="822960"/>
            <a:ext cx="269748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610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4740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 Transform &amp; Clipping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23260" y="13898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log1p(AVG_SV), log1p(AVG_FBI)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→ Kompresi rentang nilai besar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SV_GROWTH_CLIPPED: potong di P5 &amp; P95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ACHIEVEMENT_PCT: clip 0–200%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RASIO_ONUS: clip 0–1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11012" y="2125980"/>
            <a:ext cx="150876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82296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82296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Z-Normalisasi (StandardScaler)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13898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Semua 6 fitur diskala ke mean=0, std=1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6 Fitur Final: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AVG_SV · AVG_FBI · RASIO_ONUS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SV_GROWTH_CLIPPED · ACHIEVEMENT_PCT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WEEKS_ACTIVE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Analogi: Membandingkan IPK mahasiswa S1 4 tahun vs semester 1 — harus dinormalisasi per semester terlebih dahulu.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K-Means++: Segmentasi Performa Merchant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Model tidak diberitahu seperti apa PREMIUM itu — ia menemukan sendiri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97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4133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 fitur yang sudah diskala per merchant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97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373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Algoritma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4133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K-Means++ (inisialisasi centroid lebih cerdas)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n_init=20, random_state=42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297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517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944368"/>
            <a:ext cx="4133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 klaster alami (K = 3, 4, atau 5 — dapat diatur PM)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297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6616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6616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Penamaan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858768"/>
            <a:ext cx="4133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Klaster diberi nama berdasarkan skor komposit: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SV 60% + Achievement 25% + Growth 15%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822960"/>
            <a:ext cx="41148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Label Map per Nilai 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234440"/>
            <a:ext cx="4114800" cy="438912"/>
          </a:xfrm>
          <a:prstGeom prst="rect">
            <a:avLst/>
          </a:prstGeom>
          <a:solidFill>
            <a:srgbClr val="E8ED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2344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12344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Labels (Tertinggi → Terendah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69164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916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16916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PREMIUM → REGULER → PASIF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14884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1488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21808" y="21488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ELITE → PREMIUM → REGULER → PASIF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60604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060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2606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ELITE → PREMIUM → REGULER → PASIF → DORMANT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1546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154680"/>
            <a:ext cx="4114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Silhouette Score — Validasi Kualitas Klaster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447288"/>
            <a:ext cx="8229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447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&gt; 0.5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Pemisahan klaster KUAT — K yang dipilih bagus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730752"/>
            <a:ext cx="8229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0.25–0.5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Pemisahan SEDANG — dapat diterima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014216"/>
            <a:ext cx="8229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014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&lt; 0.25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Pemisahan LEMAH — coba K yang berbeda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A3A6B"/>
                </a:solidFill>
              </a:rPr>
              <a:t>"Model tidak diberitahu seperti apa merchant PREMIUM — ia menemukan pengelompokan yang memang ada di dalam data."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Isolation Forest: Deteksi Merchant yang Anomali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"Merchant yang aneh lebih mudah diisolasi dalam kerumunan"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Ide Dasar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Acak-acak pertanyaan pemilahan data berulang kali.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Merchant ANEH = tertangkap lebih cepat (path lebih pendek).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Merchant NORMAL = butuh lebih banyak pertanyaan.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7452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Parameter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167128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n_estimators: 100 pohon acak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contamination: 0.10 (~10% portofolio ≈ 3–4 merchant)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Bekerja pada 6 fitur SECARA BERSAMAAN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260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Keunggulan vs Threshold Satu Dimensi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218688"/>
            <a:ext cx="4041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Volume normal + Growth normal + On-us ratio tinggi + Minggu aktif sedikit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→ Kombinasinya anomali, tapi tidak terdeteksi jika dicek satu per satu.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20624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822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LOFO — Leave-One-Feature-Out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252728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Untuk setiap fitur: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1. Netralkan fitur (set ke nilai rata-rata portofolio)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2. Hitung ulang skor anomali TANPA re-training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3. Delta = skor_dasar − skor_netral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Delta positif besar → fitur ITU yang menyebabkan flag anomali.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Hasil: Isolation Forest yang bisa dijelaskan — PM tahu tepat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mengapa merchant ini diflag.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20624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per Merchant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493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IF_ANOMALY_SCORE  — skor kontinu (makin tinggi makin anomali)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3803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IF_IS_ANOMALY     — flag boolean (True = ~10% teratas)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4114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IF_CONTRIB_*      — kontribusi LOFO per fitur (6 kolom)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MAD Z-Score: Mengukur Jarak dari Norma Portofolio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Lebih andal dari Z-Score standar untuk portofolio kecil 38 merchant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0624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Z-Score Standar (Mean)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Formula: Z = (x − mean) / std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Masalah: Mean dipengaruhi outlier.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Dalam portofolio 38 merchant, SATU merchant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ekstrem bisa menggeser mean secara signifikan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→ semua merchant lain terlihat lebih aman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dari yang sebenarnya.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42062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MAD Z-Score (Median)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Formula: Z = 0.6745 × (x − median) / MAD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MAD = median(|x − median(x)|)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Keunggulan: Median tidak terpengaruh outlier.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Jauh lebih stabil dan andal untuk portofolio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kecil seperti ini.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Diterapkan pada 3 dimensi (setelah log transform):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13632"/>
            <a:ext cx="283464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ZSCORE_SV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log(AVG_SV) — anomali volume penjualan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72968" y="3913632"/>
            <a:ext cx="283464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ZSCORE_FBI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log(AVG_FBI) — anomali fee income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71616" y="3913632"/>
            <a:ext cx="283464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ZSCORE_GROWTH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SV_GROWTH_CLIPPED — tren pertumbuhan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Nilai negatif = merchant di bawah median portofolio untuk metrik tersebut.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Risk Score Komposit: Menyatukan Semua Sinyal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Satu angka 0–100 yang mencerminkan tingkat risiko churn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303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53035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Formula RISK_SCORE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612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clip(−ZSCORE_GROWTH, 0, 3) / 3  ×  40   ← Tren pertumbuhan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clip(−ZSCORE_SV,     0, 3) / 3  ×  30   ← Volume penjualan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clip(−ZSCORE_FBI,    0, 3) / 3  ×  20   ← Fee income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clip(1 − ACHV/100,   0, 1)      ×  10   ← Gap target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clipped to [0, 100]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77724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777240"/>
            <a:ext cx="73152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777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822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Tren Pertumbuhan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097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Penurunan trajectory = sinyal churn terkuat. Merchant yang akan pergi biasanya menurun lebih dulu sebelum volume jatuh.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06440" y="182880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828800"/>
            <a:ext cx="73152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828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Volume Penjualan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1968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Dropping sales = kehilangan bisnis. Sinyal terkuat kedua.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6440" y="288036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2880360"/>
            <a:ext cx="73152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8803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01968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Fee Income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1968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Mengikuti volume. Penurunan FBI tanpa penurunan SV menandakan pergeseran produk.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393192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3931920"/>
            <a:ext cx="731520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9319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01968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Gap Target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01968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Bobotnya paling kecil karena tidak semua merchant memiliki target yang terdefinisi.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182112"/>
            <a:ext cx="5303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82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Semakin tinggi RISK_SCORE, semakin besar risiko churn. Score 0 = sempurna, 100 = kritis.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Klasifikasi Risiko &amp; Ensemble Alert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Tiga kategori + dua lapisan pengaman tambahan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0058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≥ 60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8448" y="804672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850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 RISK ⚠️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15214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Intervensi segera. Merchant menunjukkan penurunan signifikan di beberapa dimensi sekaligus.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10058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051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30–59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98448" y="1810512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856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MEDIUM RISK 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1579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Pemantauan intensif. Ada sinyal awal penurunan yang perlu ditindaklanjuti.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10058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1635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&lt; 30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98448" y="2816352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862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STABLE 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1638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Performa normal. Pemantauan rutin sudah cukup.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804672"/>
            <a:ext cx="35661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804672"/>
            <a:ext cx="356616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804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Z-Score Tripwire (Override)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1207008"/>
            <a:ext cx="3383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Jika merchant STABLE tapi salah satu dimensi Z-Score &lt; threshold (default −1.2):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→ Otomatis dinaikkan ke MEDIUM RISK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Mencegah sinyal bahaya parah pada satu dimensi tersembunyi oleh dua dimensi lain yang masih baik.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359152"/>
            <a:ext cx="3566160" cy="150876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2359152"/>
            <a:ext cx="35661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⚡ ENSEMBLE ALERT — Prioritas Tertinggi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2761488"/>
            <a:ext cx="33832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Merchant mendapat flag dari DUA metode sekaligus: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HIGH RISK dari Risk Score Komposit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Anomali dari Isolation Forest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Dua model berbeda, dua pendekatan berbeda,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menunjuk merchant yang sama.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→ Tingkat keyakinan JAUH lebih tinggi.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6B"/>
                </a:solidFill>
              </a:rPr>
              <a:t>PM dapat mengatur sensitivitas melalui slider Threshold Z-Score di dashboard — mengontrol seberapa agresif sistem meng-upgrade STABLE ke MEDIUM RISK tanpa harus menyentuh kode.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Holt-Winters: Proyeksi Penjualan Per Merchant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Modul terpisah — berjalan on-demand, per merchant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Ilustrasi Output Holt-Winters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685032"/>
            <a:ext cx="4663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07592"/>
            <a:ext cx="0" cy="2395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36392"/>
            <a:ext cx="548640" cy="-18288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953512"/>
            <a:ext cx="457200" cy="45720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3410712"/>
            <a:ext cx="457200" cy="-64008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770632"/>
            <a:ext cx="457200" cy="45720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227832"/>
            <a:ext cx="457200" cy="-54864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679192"/>
            <a:ext cx="457200" cy="82296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3502152"/>
            <a:ext cx="411480" cy="-45720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3044952"/>
            <a:ext cx="320040" cy="-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297680" y="2770632"/>
            <a:ext cx="274320" cy="36576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0" y="3136392"/>
            <a:ext cx="320040" cy="-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892040" y="2679192"/>
            <a:ext cx="274320" cy="-182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977640" y="1307592"/>
            <a:ext cx="0" cy="2395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777240" y="3593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56DB"/>
                </a:solidFill>
              </a:rPr>
              <a:t>Historis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69080" y="3593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Proyeksi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0" y="1335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Sekarang →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06440" y="804672"/>
            <a:ext cx="310896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804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Algoritma Otomatis berdasarkan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1216152"/>
            <a:ext cx="3108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12893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2435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≥ 24 bulan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3328" y="145389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Holt-Winters Penuh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70448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Tren + dekomposisi musiman (seasonal_periods=12)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06440" y="2130552"/>
            <a:ext cx="3108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33872" y="220370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21579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6–23 bulan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53328" y="236829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Holt's Double Smoothing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70448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Tren saja — tanpa komponen musiman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06440" y="3044952"/>
            <a:ext cx="3108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33872" y="311810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0723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&lt; 6 bulan data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53328" y="328269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Linear Extrapolation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70448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Fallback sederhana — hasil kurang akurat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06440" y="4005072"/>
            <a:ext cx="3108960" cy="7680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Output: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• Grafik historis + proyeksi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• Multiplier musiman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• Verdict: on track / at risk / critical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Kenapa K-Means DAN Isolation Forest?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Dua pertanyaan berbeda, dua model berbeda — bersama lebih lengkap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K-Means++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"Merchant ini termasuk kelompok mana?"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5196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046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Isolation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060704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"Apakah merchant ini berperilaku aneh untuk kelompoknya?"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25196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PREMIUM — Tidak Anomali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85623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Merchant sehat performa tinggi.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Pantau rutin, pertahankan hubungan.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4251960" cy="1645920"/>
          </a:xfrm>
          <a:prstGeom prst="rect">
            <a:avLst/>
          </a:prstGeom>
          <a:solidFill>
            <a:srgbClr val="FFF7ED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PREMIUM — Anomali 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5623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PRIORITAS TINGGI.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Ada perubahan drastis pada merchant top.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Investigasi segera.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4251960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278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PASIF — Tidak Anomali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75304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Performa rendah tapi konsisten.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Program aktivasi jangka panjang.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36392"/>
            <a:ext cx="4251960" cy="16459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278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PASIF — Anomali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575304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Merchant pasif berperilaku tak terduga.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Perhatian berbeda dari PREMIUM anomali.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7365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← Cluster Tier: Tinggi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9160" y="47365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Anomali (Isolation Forest) →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Antisipasi Pertanyaan Audiens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56DB"/>
                </a:solidFill>
              </a:rPr>
              <a:t>Pertanyaan yang paling sering muncul beserta jawabannya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92608" cy="7863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Q1  Kenapa tidak pakai model supervised (klasifikasi)?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15214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Tidak ada data historis merchant yang sudah churn. Tanpa label training, supervised learning tidak bisa digunakan. K-Means dan Isolation Forest bekerja tanpa label.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29260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8249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Q2  Kenapa contamination 10% di Isolation Forest?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9933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10% dari 38 merchant = ~4 merchant. Cukup kecil untuk bisa diinvestigasi PM, tidak terlalu besar sampai menjadi noise yang diabaikan.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87168"/>
            <a:ext cx="292608" cy="7863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237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Q3  Apakah model bisa salah?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Ya, bisa. Itulah mengapa PM tetap punya kontrol: slider sensitivity, LOFO contribution, dan Ensemble Alert. Model memberi sinyal — PM yang memutuskan.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28416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28416"/>
            <a:ext cx="29260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649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Q4  Seberapa sering model dilatih ulang?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Setiap kali halaman Dashboard dibuka. Tidak ada file model tersimpan — selalu fresh dari data terbaru, di-cache selama satu sesi untuk performa.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169664"/>
            <a:ext cx="859536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69664"/>
            <a:ext cx="292608" cy="7863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06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Q5  Apa bedanya MAD Z-Score dengan Z-Score biasa?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51713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Z-Score biasa memakai mean yang dipengaruhi outlier. MAD memakai median yang stabil. Untuk portofolio kecil 38 merchant, MAD jauh lebih andal.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389120"/>
            <a:ext cx="8823960" cy="7543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Kesimpulan &amp; Nilai Bisnis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8046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▶  Menjawab satu pertanyaan bisnis: merchant mana yang perlu diperhatikan sekarang, dan mengapa?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▶  Setiap keputusan teknis (MAD Z-Score, LOFO, Ensemble Alert) dirancang untuk menghasilkan sinyal yang actionable bagi PM.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▶  Bukan prediksi biner yang bisa salah/benar — ini sistem peringatan dini yang memberi PM waktu bereaksi sebelum churn terjadi.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095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▶  Model dilatih ulang otomatis dari data terbaru setiap sesi — tidak ada drift dari model lama yang kadaluwarsa.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622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Bank BTN  ·  Data &amp; Analytics Team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Pipeline – BTN Anchor Automation Dashboard</dc:title>
  <dc:subject>PptxGenJS Presentation</dc:subject>
  <dc:creator>BTN Data Team</dc:creator>
  <cp:lastModifiedBy>BTN Data Team</cp:lastModifiedBy>
  <cp:revision>1</cp:revision>
  <dcterms:created xsi:type="dcterms:W3CDTF">2026-04-22T04:31:35Z</dcterms:created>
  <dcterms:modified xsi:type="dcterms:W3CDTF">2026-04-22T04:31:35Z</dcterms:modified>
</cp:coreProperties>
</file>